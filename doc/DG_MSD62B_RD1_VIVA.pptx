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8"/>
  </p:notesMasterIdLst>
  <p:sldIdLst>
    <p:sldId id="256" r:id="rId5"/>
    <p:sldId id="257" r:id="rId6"/>
    <p:sldId id="281" r:id="rId7"/>
    <p:sldId id="282" r:id="rId8"/>
    <p:sldId id="287" r:id="rId9"/>
    <p:sldId id="315" r:id="rId10"/>
    <p:sldId id="308" r:id="rId11"/>
    <p:sldId id="324" r:id="rId12"/>
    <p:sldId id="325" r:id="rId13"/>
    <p:sldId id="294" r:id="rId14"/>
    <p:sldId id="298" r:id="rId15"/>
    <p:sldId id="307" r:id="rId16"/>
    <p:sldId id="271" r:id="rId17"/>
  </p:sldIdLst>
  <p:sldSz cx="9144000" cy="5143500" type="screen16x9"/>
  <p:notesSz cx="6858000" cy="9144000"/>
  <p:embeddedFontLst>
    <p:embeddedFont>
      <p:font typeface="Lato" panose="020F0502020204030203" pitchFamily="34" charset="0"/>
      <p:regular r:id="rId19"/>
      <p:bold r:id="rId20"/>
      <p:italic r:id="rId21"/>
      <p:boldItalic r:id="rId22"/>
    </p:embeddedFont>
    <p:embeddedFont>
      <p:font typeface="Raleway"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A5512D-B621-4165-9B89-DEB45359ED0C}" v="2" dt="2023-05-16T17:38:52.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79766" autoAdjust="0"/>
  </p:normalViewPr>
  <p:slideViewPr>
    <p:cSldViewPr snapToGrid="0">
      <p:cViewPr varScale="1">
        <p:scale>
          <a:sx n="87" d="100"/>
          <a:sy n="87" d="100"/>
        </p:scale>
        <p:origin x="1493"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Grech" userId="e5d220c8b6c1a2bf" providerId="LiveId" clId="{44A5512D-B621-4165-9B89-DEB45359ED0C}"/>
    <pc:docChg chg="custSel modSld">
      <pc:chgData name="Daniel Grech" userId="e5d220c8b6c1a2bf" providerId="LiveId" clId="{44A5512D-B621-4165-9B89-DEB45359ED0C}" dt="2023-05-16T17:38:54.276" v="4" actId="122"/>
      <pc:docMkLst>
        <pc:docMk/>
      </pc:docMkLst>
      <pc:sldChg chg="addSp delSp modSp mod delAnim">
        <pc:chgData name="Daniel Grech" userId="e5d220c8b6c1a2bf" providerId="LiveId" clId="{44A5512D-B621-4165-9B89-DEB45359ED0C}" dt="2023-05-16T17:38:54.276" v="4" actId="122"/>
        <pc:sldMkLst>
          <pc:docMk/>
          <pc:sldMk cId="2851986345" sldId="308"/>
        </pc:sldMkLst>
        <pc:spChg chg="add mod">
          <ac:chgData name="Daniel Grech" userId="e5d220c8b6c1a2bf" providerId="LiveId" clId="{44A5512D-B621-4165-9B89-DEB45359ED0C}" dt="2023-05-16T17:38:54.276" v="4" actId="122"/>
          <ac:spMkLst>
            <pc:docMk/>
            <pc:sldMk cId="2851986345" sldId="308"/>
            <ac:spMk id="2" creationId="{8B5E41BF-5303-2F53-545F-B3E22955EC6D}"/>
          </ac:spMkLst>
        </pc:spChg>
        <pc:picChg chg="del">
          <ac:chgData name="Daniel Grech" userId="e5d220c8b6c1a2bf" providerId="LiveId" clId="{44A5512D-B621-4165-9B89-DEB45359ED0C}" dt="2023-05-16T17:37:54.943" v="0" actId="478"/>
          <ac:picMkLst>
            <pc:docMk/>
            <pc:sldMk cId="2851986345" sldId="308"/>
            <ac:picMk id="4" creationId="{8E370DAA-111C-02FD-31BB-7A1EE8EE2B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sz="1100" b="0" i="0" u="none" strike="noStrike" cap="none" dirty="0">
              <a:solidFill>
                <a:srgbClr val="000000"/>
              </a:solidFill>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l">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mt-MT" sz="1100" b="1"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3761439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4274715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lang="mt-MT" dirty="0"/>
          </a:p>
        </p:txBody>
      </p:sp>
    </p:spTree>
    <p:extLst>
      <p:ext uri="{BB962C8B-B14F-4D97-AF65-F5344CB8AC3E}">
        <p14:creationId xmlns:p14="http://schemas.microsoft.com/office/powerpoint/2010/main" val="4072149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2943385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89652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1009066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1660717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spcBef>
                <a:spcPts val="0"/>
              </a:spcBef>
              <a:spcAft>
                <a:spcPts val="0"/>
              </a:spcAft>
              <a:buFont typeface="Arial" panose="020B0604020202020204" pitchFamily="34" charset="0"/>
              <a:buChar char="•"/>
            </a:pPr>
            <a:endParaRPr lang="en-US" b="1" dirty="0"/>
          </a:p>
        </p:txBody>
      </p:sp>
    </p:spTree>
    <p:extLst>
      <p:ext uri="{BB962C8B-B14F-4D97-AF65-F5344CB8AC3E}">
        <p14:creationId xmlns:p14="http://schemas.microsoft.com/office/powerpoint/2010/main" val="823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b="1" dirty="0"/>
          </a:p>
        </p:txBody>
      </p:sp>
    </p:spTree>
    <p:extLst>
      <p:ext uri="{BB962C8B-B14F-4D97-AF65-F5344CB8AC3E}">
        <p14:creationId xmlns:p14="http://schemas.microsoft.com/office/powerpoint/2010/main" val="3601018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3294784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960654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Shape 1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Shape 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311700" y="1152475"/>
            <a:ext cx="393034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dirty="0"/>
          </a:p>
        </p:txBody>
      </p:sp>
      <p:sp>
        <p:nvSpPr>
          <p:cNvPr id="19" name="Shape 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
        <p:nvSpPr>
          <p:cNvPr id="4" name="Picture Placeholder 3">
            <a:extLst>
              <a:ext uri="{FF2B5EF4-FFF2-40B4-BE49-F238E27FC236}">
                <a16:creationId xmlns:a16="http://schemas.microsoft.com/office/drawing/2014/main" id="{6C5A610E-6324-4C28-9F4D-98C43BE8E1AA}"/>
              </a:ext>
            </a:extLst>
          </p:cNvPr>
          <p:cNvSpPr>
            <a:spLocks noGrp="1"/>
          </p:cNvSpPr>
          <p:nvPr>
            <p:ph type="pic" sz="quarter" idx="13"/>
          </p:nvPr>
        </p:nvSpPr>
        <p:spPr>
          <a:xfrm>
            <a:off x="4335552" y="1151118"/>
            <a:ext cx="4495740" cy="3420882"/>
          </a:xfrm>
        </p:spPr>
        <p:txBody>
          <a:bodyPr/>
          <a:lstStyle/>
          <a:p>
            <a:endParaRPr lang="en-GB" dirty="0"/>
          </a:p>
        </p:txBody>
      </p:sp>
    </p:spTree>
    <p:extLst>
      <p:ext uri="{BB962C8B-B14F-4D97-AF65-F5344CB8AC3E}">
        <p14:creationId xmlns:p14="http://schemas.microsoft.com/office/powerpoint/2010/main" val="235719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Shape 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Shape 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Shape 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Shape 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7" name="Shape 3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Shape 3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Shape 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Shape 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Shape 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Shape 4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Shape 4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Shape 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Shape 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Shape 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60"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GExiH4X98L4"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11700" y="1303523"/>
            <a:ext cx="8520600" cy="856585"/>
          </a:xfrm>
          <a:prstGeom prst="rect">
            <a:avLst/>
          </a:prstGeom>
        </p:spPr>
        <p:txBody>
          <a:bodyPr spcFirstLastPara="1" wrap="square" lIns="91425" tIns="91425" rIns="91425" bIns="91425" anchor="b" anchorCtr="0">
            <a:noAutofit/>
          </a:bodyPr>
          <a:lstStyle/>
          <a:p>
            <a:pPr lvl="0"/>
            <a:r>
              <a:rPr lang="en-GB" sz="3600" b="1" dirty="0">
                <a:latin typeface="Raleway"/>
                <a:ea typeface="Raleway"/>
                <a:cs typeface="Raleway"/>
                <a:sym typeface="Raleway"/>
              </a:rPr>
              <a:t>Virtual Reality in Music Education</a:t>
            </a:r>
            <a:endParaRPr lang="en-US" sz="3600" b="1" dirty="0">
              <a:latin typeface="Raleway"/>
              <a:ea typeface="Raleway"/>
              <a:cs typeface="Raleway"/>
              <a:sym typeface="Raleway"/>
            </a:endParaRPr>
          </a:p>
        </p:txBody>
      </p:sp>
      <p:sp>
        <p:nvSpPr>
          <p:cNvPr id="55" name="Shape 55"/>
          <p:cNvSpPr txBox="1">
            <a:spLocks noGrp="1"/>
          </p:cNvSpPr>
          <p:nvPr>
            <p:ph type="subTitle" idx="1"/>
          </p:nvPr>
        </p:nvSpPr>
        <p:spPr>
          <a:xfrm>
            <a:off x="311700" y="2834124"/>
            <a:ext cx="8520600" cy="2125333"/>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GB">
                <a:latin typeface="Lato"/>
                <a:ea typeface="Lato"/>
                <a:cs typeface="Lato"/>
                <a:sym typeface="Lato"/>
              </a:rPr>
              <a:t>Daniel Grech</a:t>
            </a:r>
            <a:endParaRPr lang="en" dirty="0">
              <a:latin typeface="Lato"/>
              <a:ea typeface="Lato"/>
              <a:cs typeface="Lato"/>
              <a:sym typeface="Lato"/>
            </a:endParaRPr>
          </a:p>
          <a:p>
            <a:pPr marL="0" lvl="0" indent="0">
              <a:spcBef>
                <a:spcPts val="0"/>
              </a:spcBef>
              <a:spcAft>
                <a:spcPts val="0"/>
              </a:spcAft>
              <a:buNone/>
            </a:pPr>
            <a:r>
              <a:rPr lang="en" sz="2400" dirty="0">
                <a:latin typeface="Lato"/>
                <a:ea typeface="Lato"/>
                <a:cs typeface="Lato"/>
                <a:sym typeface="Lato"/>
              </a:rPr>
              <a:t>Institute of Information &amp; Communication Technology</a:t>
            </a:r>
          </a:p>
          <a:p>
            <a:pPr marL="0" lvl="0" indent="0">
              <a:spcBef>
                <a:spcPts val="0"/>
              </a:spcBef>
              <a:spcAft>
                <a:spcPts val="0"/>
              </a:spcAft>
              <a:buNone/>
            </a:pPr>
            <a:r>
              <a:rPr lang="en" sz="2400" dirty="0">
                <a:latin typeface="Lato"/>
                <a:ea typeface="Lato"/>
                <a:cs typeface="Lato"/>
                <a:sym typeface="Lato"/>
              </a:rPr>
              <a:t>MCAST, Paola, Malta</a:t>
            </a:r>
          </a:p>
          <a:p>
            <a:pPr marL="0" lvl="0" indent="0">
              <a:spcBef>
                <a:spcPts val="0"/>
              </a:spcBef>
              <a:spcAft>
                <a:spcPts val="0"/>
              </a:spcAft>
              <a:buNone/>
            </a:pPr>
            <a:endParaRPr lang="en" sz="2400" dirty="0">
              <a:latin typeface="Lato"/>
              <a:ea typeface="Lato"/>
              <a:cs typeface="Lato"/>
              <a:sym typeface="Lato"/>
            </a:endParaRPr>
          </a:p>
        </p:txBody>
      </p:sp>
      <p:cxnSp>
        <p:nvCxnSpPr>
          <p:cNvPr id="4" name="Straight Connector 3">
            <a:extLst>
              <a:ext uri="{FF2B5EF4-FFF2-40B4-BE49-F238E27FC236}">
                <a16:creationId xmlns:a16="http://schemas.microsoft.com/office/drawing/2014/main" id="{36CC284B-5107-E745-9630-DD6C2A410927}"/>
              </a:ext>
            </a:extLst>
          </p:cNvPr>
          <p:cNvCxnSpPr/>
          <p:nvPr/>
        </p:nvCxnSpPr>
        <p:spPr>
          <a:xfrm>
            <a:off x="119270" y="2794483"/>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8" name="Picture 7" descr="Shape&#10;&#10;Description automatically generated with medium confidence">
            <a:extLst>
              <a:ext uri="{FF2B5EF4-FFF2-40B4-BE49-F238E27FC236}">
                <a16:creationId xmlns:a16="http://schemas.microsoft.com/office/drawing/2014/main" id="{B8E9EC66-EE26-4981-8CB8-3FF197B22AAE}"/>
              </a:ext>
            </a:extLst>
          </p:cNvPr>
          <p:cNvPicPr>
            <a:picLocks noChangeAspect="1"/>
          </p:cNvPicPr>
          <p:nvPr/>
        </p:nvPicPr>
        <p:blipFill>
          <a:blip r:embed="rId3"/>
          <a:stretch>
            <a:fillRect/>
          </a:stretch>
        </p:blipFill>
        <p:spPr>
          <a:xfrm>
            <a:off x="6382381" y="4102874"/>
            <a:ext cx="2449919" cy="856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Motivation</a:t>
            </a:r>
            <a:endParaRPr sz="2000" b="1" dirty="0">
              <a:latin typeface="Raleway"/>
              <a:ea typeface="Raleway"/>
              <a:cs typeface="Raleway"/>
              <a:sym typeface="Raleway"/>
            </a:endParaRPr>
          </a:p>
        </p:txBody>
      </p:sp>
      <p:sp>
        <p:nvSpPr>
          <p:cNvPr id="6" name="Text Placeholder 5">
            <a:extLst>
              <a:ext uri="{FF2B5EF4-FFF2-40B4-BE49-F238E27FC236}">
                <a16:creationId xmlns:a16="http://schemas.microsoft.com/office/drawing/2014/main" id="{0CFF0A6D-295C-456E-8798-17AF125A5864}"/>
              </a:ext>
            </a:extLst>
          </p:cNvPr>
          <p:cNvSpPr>
            <a:spLocks noGrp="1"/>
          </p:cNvSpPr>
          <p:nvPr>
            <p:ph type="body" idx="1"/>
          </p:nvPr>
        </p:nvSpPr>
        <p:spPr>
          <a:xfrm>
            <a:off x="318574" y="1170003"/>
            <a:ext cx="8520600" cy="3762425"/>
          </a:xfrm>
        </p:spPr>
        <p:txBody>
          <a:bodyPr/>
          <a:lstStyle/>
          <a:p>
            <a:pPr>
              <a:lnSpc>
                <a:spcPct val="150000"/>
              </a:lnSpc>
              <a:buFont typeface="Wingdings" panose="05000000000000000000" pitchFamily="2" charset="2"/>
              <a:buChar char="§"/>
            </a:pPr>
            <a:r>
              <a:rPr lang="en-GB" sz="2000" dirty="0"/>
              <a:t>To change the way music can be taught</a:t>
            </a:r>
          </a:p>
          <a:p>
            <a:pPr>
              <a:lnSpc>
                <a:spcPct val="150000"/>
              </a:lnSpc>
              <a:buFont typeface="Wingdings" panose="05000000000000000000" pitchFamily="2" charset="2"/>
              <a:buChar char="§"/>
            </a:pPr>
            <a:r>
              <a:rPr lang="en-GB" sz="2000" dirty="0"/>
              <a:t>Solve limitations about individuals wishing to learn music but can not physically due to disease or illness.</a:t>
            </a:r>
          </a:p>
          <a:p>
            <a:pPr>
              <a:lnSpc>
                <a:spcPct val="150000"/>
              </a:lnSpc>
              <a:buFont typeface="Wingdings" panose="05000000000000000000" pitchFamily="2" charset="2"/>
              <a:buChar char="§"/>
            </a:pPr>
            <a:r>
              <a:rPr lang="en-GB" sz="2000" dirty="0"/>
              <a:t>Making music education both cheaper and space-friendly using virtual reality technologies</a:t>
            </a:r>
          </a:p>
          <a:p>
            <a:pPr>
              <a:lnSpc>
                <a:spcPct val="150000"/>
              </a:lnSpc>
              <a:buFont typeface="Wingdings" panose="05000000000000000000" pitchFamily="2" charset="2"/>
              <a:buChar char="§"/>
            </a:pPr>
            <a:r>
              <a:rPr lang="en-GB" sz="2000" dirty="0"/>
              <a:t>Motivate more people to start learning about music by doing so in the comfort of their own home </a:t>
            </a: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lvl="0" algn="ctr"/>
            <a:r>
              <a:rPr lang="en" b="1" dirty="0">
                <a:latin typeface="Raleway"/>
                <a:ea typeface="Raleway"/>
                <a:cs typeface="Raleway"/>
                <a:sym typeface="Raleway"/>
              </a:rPr>
              <a:t>Hypothesis &amp; Questions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D83BEE64-D478-46E3-9F61-901B1B8AD7B9}"/>
              </a:ext>
            </a:extLst>
          </p:cNvPr>
          <p:cNvSpPr>
            <a:spLocks noGrp="1"/>
          </p:cNvSpPr>
          <p:nvPr>
            <p:ph type="body" idx="1"/>
          </p:nvPr>
        </p:nvSpPr>
        <p:spPr>
          <a:xfrm>
            <a:off x="311700" y="1152475"/>
            <a:ext cx="8611864" cy="3416400"/>
          </a:xfrm>
        </p:spPr>
        <p:txBody>
          <a:bodyPr/>
          <a:lstStyle/>
          <a:p>
            <a:pPr marL="114300" indent="0">
              <a:buNone/>
            </a:pPr>
            <a:r>
              <a:rPr lang="mt-MT" b="1" dirty="0">
                <a:latin typeface="NimbusRomNo9L-Regu"/>
              </a:rPr>
              <a:t>Hypothesis</a:t>
            </a:r>
          </a:p>
          <a:p>
            <a:pPr>
              <a:buFont typeface="Arial" panose="020B0604020202020204" pitchFamily="34" charset="0"/>
              <a:buChar char="‒"/>
            </a:pPr>
            <a:r>
              <a:rPr lang="mt-MT" sz="1600" dirty="0">
                <a:latin typeface="NimbusRomNo9L-Regu"/>
              </a:rPr>
              <a:t>T</a:t>
            </a:r>
            <a:r>
              <a:rPr lang="en-US" sz="1600" b="0" i="0" u="none" strike="noStrike" baseline="0" dirty="0">
                <a:latin typeface="NimbusRomNo9L-Regu"/>
              </a:rPr>
              <a:t>he hypothesis </a:t>
            </a:r>
            <a:r>
              <a:rPr lang="mt-MT" sz="1600" b="0" i="0" u="none" strike="noStrike" baseline="0" dirty="0">
                <a:latin typeface="NimbusRomNo9L-Regu"/>
              </a:rPr>
              <a:t>of </a:t>
            </a:r>
            <a:r>
              <a:rPr lang="en-US" sz="1600" b="0" i="0" u="none" strike="noStrike" baseline="0" dirty="0">
                <a:latin typeface="NimbusRomNo9L-Regu"/>
              </a:rPr>
              <a:t>this research is that if people learn basic music education using solely virtual reality technologies, and if they able to compete with people learning basic music education physically.</a:t>
            </a:r>
            <a:endParaRPr lang="mt-MT" sz="1600" dirty="0">
              <a:latin typeface="NimbusRomNo9L-Regu"/>
            </a:endParaRPr>
          </a:p>
          <a:p>
            <a:pPr>
              <a:buFont typeface="Arial" panose="020B0604020202020204" pitchFamily="34" charset="0"/>
              <a:buChar char="‒"/>
            </a:pPr>
            <a:endParaRPr lang="mt-MT" dirty="0">
              <a:latin typeface="NimbusRomNo9L-Regu"/>
            </a:endParaRPr>
          </a:p>
          <a:p>
            <a:pPr marL="114300" indent="0">
              <a:buNone/>
            </a:pPr>
            <a:r>
              <a:rPr lang="mt-MT" b="1" dirty="0">
                <a:latin typeface="NimbusRomNo9L-Regu"/>
              </a:rPr>
              <a:t>Research Questions</a:t>
            </a:r>
          </a:p>
          <a:p>
            <a:pPr>
              <a:lnSpc>
                <a:spcPct val="100000"/>
              </a:lnSpc>
              <a:buFont typeface="Arial" panose="020B0604020202020204" pitchFamily="34" charset="0"/>
              <a:buChar char="‒"/>
            </a:pPr>
            <a:r>
              <a:rPr lang="en-US" sz="1600" dirty="0">
                <a:latin typeface="NimbusRomNo9L-Regu"/>
              </a:rPr>
              <a:t>How do users that learnt music solely from VR technologies compare to users that have a basic background in music?</a:t>
            </a:r>
          </a:p>
          <a:p>
            <a:pPr>
              <a:lnSpc>
                <a:spcPct val="100000"/>
              </a:lnSpc>
              <a:buFont typeface="Arial" panose="020B0604020202020204" pitchFamily="34" charset="0"/>
              <a:buChar char="‒"/>
            </a:pPr>
            <a:endParaRPr lang="en-US" sz="1600" dirty="0">
              <a:latin typeface="NimbusRomNo9L-Regu"/>
            </a:endParaRPr>
          </a:p>
          <a:p>
            <a:pPr>
              <a:lnSpc>
                <a:spcPct val="100000"/>
              </a:lnSpc>
              <a:buFont typeface="Arial" panose="020B0604020202020204" pitchFamily="34" charset="0"/>
              <a:buChar char="‒"/>
            </a:pPr>
            <a:r>
              <a:rPr lang="en-US" sz="1600" dirty="0">
                <a:latin typeface="NimbusRomNo9L-Regu"/>
              </a:rPr>
              <a:t>Are using VR technologies in music education ideal learning tools?</a:t>
            </a:r>
            <a:endParaRPr lang="mt-MT" sz="1600" dirty="0">
              <a:latin typeface="NimbusRomNo9L-Regu"/>
            </a:endParaRPr>
          </a:p>
        </p:txBody>
      </p:sp>
    </p:spTree>
    <p:extLst>
      <p:ext uri="{BB962C8B-B14F-4D97-AF65-F5344CB8AC3E}">
        <p14:creationId xmlns:p14="http://schemas.microsoft.com/office/powerpoint/2010/main" val="1491059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Key Literature</a:t>
            </a:r>
            <a:endParaRPr sz="2000" b="1" dirty="0">
              <a:latin typeface="Raleway"/>
              <a:ea typeface="Raleway"/>
              <a:cs typeface="Raleway"/>
              <a:sym typeface="Raleway"/>
            </a:endParaRPr>
          </a:p>
        </p:txBody>
      </p:sp>
      <p:sp>
        <p:nvSpPr>
          <p:cNvPr id="10" name="Shape 61">
            <a:extLst>
              <a:ext uri="{FF2B5EF4-FFF2-40B4-BE49-F238E27FC236}">
                <a16:creationId xmlns:a16="http://schemas.microsoft.com/office/drawing/2014/main" id="{FD4B4C9F-F7EC-4B6E-876F-FFE4D72DA8C5}"/>
              </a:ext>
            </a:extLst>
          </p:cNvPr>
          <p:cNvSpPr txBox="1">
            <a:spLocks noGrp="1"/>
          </p:cNvSpPr>
          <p:nvPr>
            <p:ph type="body" idx="1"/>
          </p:nvPr>
        </p:nvSpPr>
        <p:spPr>
          <a:prstGeom prst="rect">
            <a:avLst/>
          </a:prstGeom>
        </p:spPr>
        <p:txBody>
          <a:bodyPr spcFirstLastPara="1" wrap="square" lIns="91425" tIns="91425" rIns="91425" bIns="91425" anchor="t" anchorCtr="0">
            <a:noAutofit/>
          </a:bodyPr>
          <a:lstStyle/>
          <a:p>
            <a:pPr marL="0" indent="0">
              <a:buNone/>
            </a:pPr>
            <a:r>
              <a:rPr lang="en-GB" sz="1400" dirty="0"/>
              <a:t>Virtual Reality has a lot of potential and is currently starting to become utilised in all forms of education.</a:t>
            </a:r>
          </a:p>
          <a:p>
            <a:pPr marL="0" indent="0">
              <a:buNone/>
            </a:pPr>
            <a:endParaRPr lang="en-GB" sz="1400" dirty="0"/>
          </a:p>
          <a:p>
            <a:pPr marL="0" indent="0">
              <a:buNone/>
            </a:pPr>
            <a:r>
              <a:rPr lang="en-GB" sz="1400" dirty="0"/>
              <a:t>Tong et al. (2016) ran tests to see the potential multimedia technologies have in musical education, and these tests confirmed that multimedia technologies do have the potential to be used as learning tools.</a:t>
            </a:r>
          </a:p>
          <a:p>
            <a:pPr marL="0" indent="0">
              <a:buNone/>
            </a:pPr>
            <a:endParaRPr lang="mt-MT" sz="1400" dirty="0"/>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168DC61-7DDD-24BE-B61C-BB375FCD8CD2}"/>
              </a:ext>
            </a:extLst>
          </p:cNvPr>
          <p:cNvPicPr>
            <a:picLocks noChangeAspect="1"/>
          </p:cNvPicPr>
          <p:nvPr/>
        </p:nvPicPr>
        <p:blipFill>
          <a:blip r:embed="rId3"/>
          <a:stretch>
            <a:fillRect/>
          </a:stretch>
        </p:blipFill>
        <p:spPr>
          <a:xfrm>
            <a:off x="2324307" y="2728278"/>
            <a:ext cx="4495386" cy="1412267"/>
          </a:xfrm>
          <a:prstGeom prst="rect">
            <a:avLst/>
          </a:prstGeom>
        </p:spPr>
      </p:pic>
    </p:spTree>
    <p:extLst>
      <p:ext uri="{BB962C8B-B14F-4D97-AF65-F5344CB8AC3E}">
        <p14:creationId xmlns:p14="http://schemas.microsoft.com/office/powerpoint/2010/main" val="172244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Research Methodology</a:t>
            </a:r>
            <a:endParaRPr sz="2000" b="1" dirty="0">
              <a:latin typeface="Raleway"/>
              <a:ea typeface="Raleway"/>
              <a:cs typeface="Raleway"/>
              <a:sym typeface="Raleway"/>
            </a:endParaRPr>
          </a:p>
        </p:txBody>
      </p:sp>
      <p:sp>
        <p:nvSpPr>
          <p:cNvPr id="2" name="Text Placeholder 1">
            <a:extLst>
              <a:ext uri="{FF2B5EF4-FFF2-40B4-BE49-F238E27FC236}">
                <a16:creationId xmlns:a16="http://schemas.microsoft.com/office/drawing/2014/main" id="{B9A51FA4-09A0-4D72-9DD9-97B75DBE572C}"/>
              </a:ext>
            </a:extLst>
          </p:cNvPr>
          <p:cNvSpPr>
            <a:spLocks noGrp="1"/>
          </p:cNvSpPr>
          <p:nvPr>
            <p:ph type="body" idx="1"/>
          </p:nvPr>
        </p:nvSpPr>
        <p:spPr>
          <a:xfrm>
            <a:off x="311700" y="1224735"/>
            <a:ext cx="4001233" cy="1550269"/>
          </a:xfrm>
        </p:spPr>
        <p:txBody>
          <a:bodyPr/>
          <a:lstStyle/>
          <a:p>
            <a:pPr marL="114300" indent="0">
              <a:buNone/>
            </a:pPr>
            <a:endParaRPr lang="en-GB" sz="1200" dirty="0"/>
          </a:p>
          <a:p>
            <a:pPr marL="114300" indent="0">
              <a:buNone/>
            </a:pPr>
            <a:r>
              <a:rPr lang="en-GB" sz="1200" dirty="0"/>
              <a:t>A virtual reality drum kit was made in blender by a 3</a:t>
            </a:r>
            <a:r>
              <a:rPr lang="en-GB" sz="1200" baseline="30000" dirty="0"/>
              <a:t>rd</a:t>
            </a:r>
            <a:r>
              <a:rPr lang="en-GB" sz="1200" dirty="0"/>
              <a:t> party and then uploaded to Unity.</a:t>
            </a:r>
          </a:p>
          <a:p>
            <a:pPr marL="114300" indent="0">
              <a:buNone/>
            </a:pPr>
            <a:endParaRPr lang="en-GB" sz="1200" dirty="0"/>
          </a:p>
          <a:p>
            <a:pPr marL="114300" indent="0">
              <a:buNone/>
            </a:pPr>
            <a:r>
              <a:rPr lang="en-GB" sz="1200" dirty="0"/>
              <a:t>In order for the drum kit to work, the user must have a working virtual reality headset and working virtual reality controllers for both hands.</a:t>
            </a:r>
          </a:p>
          <a:p>
            <a:pPr marL="114300" indent="0">
              <a:buNone/>
            </a:pPr>
            <a:endParaRPr lang="en-GB" sz="1200" dirty="0"/>
          </a:p>
          <a:p>
            <a:pPr marL="114300" indent="0">
              <a:buNone/>
            </a:pPr>
            <a:endParaRPr lang="en-GB" sz="1200" dirty="0"/>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876F12E0-5E22-D861-5474-4E59A9A2ACA5}"/>
              </a:ext>
            </a:extLst>
          </p:cNvPr>
          <p:cNvPicPr>
            <a:picLocks noChangeAspect="1"/>
          </p:cNvPicPr>
          <p:nvPr/>
        </p:nvPicPr>
        <p:blipFill>
          <a:blip r:embed="rId3"/>
          <a:stretch>
            <a:fillRect/>
          </a:stretch>
        </p:blipFill>
        <p:spPr>
          <a:xfrm>
            <a:off x="4312933" y="1239505"/>
            <a:ext cx="4280922" cy="3070156"/>
          </a:xfrm>
          <a:prstGeom prst="rect">
            <a:avLst/>
          </a:prstGeom>
        </p:spPr>
      </p:pic>
      <p:pic>
        <p:nvPicPr>
          <p:cNvPr id="1026" name="Picture 2" descr="Unity (game engine) - Wikipedia">
            <a:extLst>
              <a:ext uri="{FF2B5EF4-FFF2-40B4-BE49-F238E27FC236}">
                <a16:creationId xmlns:a16="http://schemas.microsoft.com/office/drawing/2014/main" id="{64786942-A8F5-38F0-386E-060B83B138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145" y="3241433"/>
            <a:ext cx="3524250"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49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Methodology</a:t>
            </a:r>
            <a:endParaRPr sz="2000" b="1" dirty="0">
              <a:latin typeface="Raleway"/>
              <a:ea typeface="Raleway"/>
              <a:cs typeface="Raleway"/>
              <a:sym typeface="Raleway"/>
            </a:endParaRPr>
          </a:p>
        </p:txBody>
      </p:sp>
      <p:sp>
        <p:nvSpPr>
          <p:cNvPr id="2" name="Text Placeholder 1">
            <a:extLst>
              <a:ext uri="{FF2B5EF4-FFF2-40B4-BE49-F238E27FC236}">
                <a16:creationId xmlns:a16="http://schemas.microsoft.com/office/drawing/2014/main" id="{B9A51FA4-09A0-4D72-9DD9-97B75DBE572C}"/>
              </a:ext>
            </a:extLst>
          </p:cNvPr>
          <p:cNvSpPr>
            <a:spLocks noGrp="1"/>
          </p:cNvSpPr>
          <p:nvPr>
            <p:ph type="body" idx="1"/>
          </p:nvPr>
        </p:nvSpPr>
        <p:spPr>
          <a:xfrm>
            <a:off x="311699" y="1152475"/>
            <a:ext cx="8442687" cy="3416400"/>
          </a:xfrm>
        </p:spPr>
        <p:txBody>
          <a:bodyPr/>
          <a:lstStyle/>
          <a:p>
            <a:pPr marL="114300" indent="0">
              <a:buNone/>
            </a:pPr>
            <a:r>
              <a:rPr lang="en-GB" sz="1200" b="1" dirty="0"/>
              <a:t>Research Task</a:t>
            </a:r>
          </a:p>
          <a:p>
            <a:pPr marL="114300" indent="0">
              <a:buNone/>
            </a:pPr>
            <a:r>
              <a:rPr lang="en-GB" sz="1200" dirty="0"/>
              <a:t>Two individuals were placed in one room with a virtual drum kit and the other two individuals had a physical drum kit.  Their objective was to replicate a simple beat provided to them.</a:t>
            </a:r>
          </a:p>
          <a:p>
            <a:pPr marL="114300" indent="0">
              <a:buNone/>
            </a:pPr>
            <a:endParaRPr lang="en-GB" sz="1200" b="1" dirty="0"/>
          </a:p>
          <a:p>
            <a:pPr marL="114300" indent="0">
              <a:buNone/>
            </a:pPr>
            <a:endParaRPr lang="en-GB" sz="1200" b="1" dirty="0"/>
          </a:p>
          <a:p>
            <a:pPr marL="114300" indent="0">
              <a:buNone/>
            </a:pPr>
            <a:r>
              <a:rPr lang="en-GB" sz="1200" b="1" dirty="0"/>
              <a:t>Ethical Considerations</a:t>
            </a:r>
          </a:p>
          <a:p>
            <a:pPr>
              <a:buFont typeface="Arial" panose="020B0604020202020204" pitchFamily="34" charset="0"/>
              <a:buChar char="‒"/>
            </a:pPr>
            <a:endParaRPr lang="en-GB" sz="1200" dirty="0"/>
          </a:p>
          <a:p>
            <a:pPr>
              <a:buFont typeface="Arial" panose="020B0604020202020204" pitchFamily="34" charset="0"/>
              <a:buChar char="‒"/>
            </a:pPr>
            <a:r>
              <a:rPr lang="en-GB" sz="1200" dirty="0"/>
              <a:t>Consent was obtained from the four participants who tested the virtual reality drum kit</a:t>
            </a:r>
          </a:p>
          <a:p>
            <a:pPr>
              <a:buFont typeface="Arial" panose="020B0604020202020204" pitchFamily="34" charset="0"/>
              <a:buChar char="‒"/>
            </a:pPr>
            <a:endParaRPr lang="en-GB" sz="1200" dirty="0"/>
          </a:p>
          <a:p>
            <a:pPr>
              <a:buFont typeface="Arial" panose="020B0604020202020204" pitchFamily="34" charset="0"/>
              <a:buChar char="‒"/>
            </a:pPr>
            <a:r>
              <a:rPr lang="en-GB" sz="1200" dirty="0"/>
              <a:t>The participants were allowed to freely test the drum kit and were tasked to replicate a simple drum beat.</a:t>
            </a: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4792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Prototype demonstration</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8B5E41BF-5303-2F53-545F-B3E22955EC6D}"/>
              </a:ext>
            </a:extLst>
          </p:cNvPr>
          <p:cNvSpPr>
            <a:spLocks noGrp="1"/>
          </p:cNvSpPr>
          <p:nvPr>
            <p:ph type="body" idx="1"/>
          </p:nvPr>
        </p:nvSpPr>
        <p:spPr>
          <a:xfrm>
            <a:off x="311700" y="1282075"/>
            <a:ext cx="8520600" cy="3416400"/>
          </a:xfrm>
        </p:spPr>
        <p:txBody>
          <a:bodyPr/>
          <a:lstStyle/>
          <a:p>
            <a:pPr marL="114300" indent="0" algn="ctr">
              <a:buNone/>
            </a:pPr>
            <a:r>
              <a:rPr lang="en-GB" sz="1400">
                <a:hlinkClick r:id="rId3"/>
              </a:rPr>
              <a:t>https://www.youtube.com/watch?v=GExiH4X98L4</a:t>
            </a:r>
            <a:endParaRPr lang="en-GB" sz="1400"/>
          </a:p>
          <a:p>
            <a:pPr marL="114300" indent="0">
              <a:buNone/>
            </a:pPr>
            <a:endParaRPr lang="en-GB" sz="1400" dirty="0"/>
          </a:p>
        </p:txBody>
      </p:sp>
    </p:spTree>
    <p:extLst>
      <p:ext uri="{BB962C8B-B14F-4D97-AF65-F5344CB8AC3E}">
        <p14:creationId xmlns:p14="http://schemas.microsoft.com/office/powerpoint/2010/main" val="2851986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Results</a:t>
            </a:r>
            <a:endParaRPr sz="2000" b="1" dirty="0">
              <a:latin typeface="Raleway"/>
              <a:ea typeface="Raleway"/>
              <a:cs typeface="Raleway"/>
              <a:sym typeface="Raleway"/>
            </a:endParaRPr>
          </a:p>
        </p:txBody>
      </p:sp>
      <p:sp>
        <p:nvSpPr>
          <p:cNvPr id="2" name="Text Placeholder 1">
            <a:extLst>
              <a:ext uri="{FF2B5EF4-FFF2-40B4-BE49-F238E27FC236}">
                <a16:creationId xmlns:a16="http://schemas.microsoft.com/office/drawing/2014/main" id="{ED28A9A0-9A26-4026-9863-DE3B6FA3C929}"/>
              </a:ext>
            </a:extLst>
          </p:cNvPr>
          <p:cNvSpPr>
            <a:spLocks noGrp="1"/>
          </p:cNvSpPr>
          <p:nvPr>
            <p:ph type="body" idx="1"/>
          </p:nvPr>
        </p:nvSpPr>
        <p:spPr>
          <a:xfrm>
            <a:off x="311700" y="1282075"/>
            <a:ext cx="8520600" cy="3416400"/>
          </a:xfrm>
        </p:spPr>
        <p:txBody>
          <a:bodyPr/>
          <a:lstStyle/>
          <a:p>
            <a:pPr marL="114300" indent="0">
              <a:buNone/>
            </a:pPr>
            <a:r>
              <a:rPr lang="en-GB" sz="1400" dirty="0"/>
              <a:t>All the participants managed to replicate the simple drum beat provided to them, even though half of the participants only used a virtual drum kit.</a:t>
            </a: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98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Evaluation</a:t>
            </a:r>
            <a:endParaRPr sz="2000" b="1" dirty="0">
              <a:latin typeface="Raleway"/>
              <a:ea typeface="Raleway"/>
              <a:cs typeface="Raleway"/>
              <a:sym typeface="Raleway"/>
            </a:endParaRPr>
          </a:p>
        </p:txBody>
      </p:sp>
      <p:sp>
        <p:nvSpPr>
          <p:cNvPr id="2" name="Text Placeholder 1">
            <a:extLst>
              <a:ext uri="{FF2B5EF4-FFF2-40B4-BE49-F238E27FC236}">
                <a16:creationId xmlns:a16="http://schemas.microsoft.com/office/drawing/2014/main" id="{ED28A9A0-9A26-4026-9863-DE3B6FA3C929}"/>
              </a:ext>
            </a:extLst>
          </p:cNvPr>
          <p:cNvSpPr>
            <a:spLocks noGrp="1"/>
          </p:cNvSpPr>
          <p:nvPr>
            <p:ph type="body" idx="1"/>
          </p:nvPr>
        </p:nvSpPr>
        <p:spPr>
          <a:xfrm>
            <a:off x="311700" y="1282075"/>
            <a:ext cx="8520600" cy="3416400"/>
          </a:xfrm>
        </p:spPr>
        <p:txBody>
          <a:bodyPr/>
          <a:lstStyle/>
          <a:p>
            <a:pPr>
              <a:buFont typeface="Wingdings" panose="05000000000000000000" pitchFamily="2" charset="2"/>
              <a:buChar char="§"/>
            </a:pPr>
            <a:r>
              <a:rPr lang="en-GB" sz="1400" dirty="0"/>
              <a:t>Overall the virtual reality drum kit has proven that it could compete with a physical drum kit.</a:t>
            </a:r>
          </a:p>
          <a:p>
            <a:pPr>
              <a:buFont typeface="Wingdings" panose="05000000000000000000" pitchFamily="2" charset="2"/>
              <a:buChar char="§"/>
            </a:pPr>
            <a:endParaRPr lang="en-GB" sz="1400" dirty="0"/>
          </a:p>
          <a:p>
            <a:pPr>
              <a:buFont typeface="Wingdings" panose="05000000000000000000" pitchFamily="2" charset="2"/>
              <a:buChar char="§"/>
            </a:pPr>
            <a:r>
              <a:rPr lang="en-GB" sz="1400" dirty="0"/>
              <a:t>The application does require a VR headset, making it problematic for those who do not own one.</a:t>
            </a:r>
          </a:p>
          <a:p>
            <a:pPr>
              <a:buFont typeface="Wingdings" panose="05000000000000000000" pitchFamily="2" charset="2"/>
              <a:buChar char="§"/>
            </a:pPr>
            <a:endParaRPr lang="en-GB" sz="1400" dirty="0"/>
          </a:p>
          <a:p>
            <a:pPr>
              <a:buFont typeface="Wingdings" panose="05000000000000000000" pitchFamily="2" charset="2"/>
              <a:buChar char="§"/>
            </a:pPr>
            <a:r>
              <a:rPr lang="en-GB" sz="1400" dirty="0"/>
              <a:t>When interviewed, the individuals also preferred to use a physical drum kit, which does make sense since it is more realistic, however when asked if they would use the virtual drum kit as a substitute, all of them said yes.</a:t>
            </a: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1644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a:latin typeface="Raleway"/>
                <a:ea typeface="Raleway"/>
                <a:cs typeface="Raleway"/>
                <a:sym typeface="Raleway"/>
              </a:rPr>
              <a:t>Conclusions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F402DAD-C218-5CC0-8B62-E2ACC1FC4F66}"/>
              </a:ext>
            </a:extLst>
          </p:cNvPr>
          <p:cNvSpPr txBox="1"/>
          <p:nvPr/>
        </p:nvSpPr>
        <p:spPr>
          <a:xfrm>
            <a:off x="311699" y="1327673"/>
            <a:ext cx="8520600" cy="830997"/>
          </a:xfrm>
          <a:prstGeom prst="rect">
            <a:avLst/>
          </a:prstGeom>
          <a:noFill/>
        </p:spPr>
        <p:txBody>
          <a:bodyPr wrap="square">
            <a:spAutoFit/>
          </a:bodyPr>
          <a:lstStyle/>
          <a:p>
            <a:r>
              <a:rPr lang="en-GB" sz="1600" dirty="0">
                <a:solidFill>
                  <a:schemeClr val="dk2"/>
                </a:solidFill>
                <a:latin typeface="NimbusRomNo9L-Regu"/>
              </a:rPr>
              <a:t>Using virtual reality technologies, a fully functioning drum kit was made and was able to compete with a physical drum kit.</a:t>
            </a:r>
          </a:p>
          <a:p>
            <a:r>
              <a:rPr lang="en-GB" sz="1600" dirty="0">
                <a:solidFill>
                  <a:schemeClr val="dk2"/>
                </a:solidFill>
                <a:latin typeface="NimbusRomNo9L-Regu"/>
              </a:rPr>
              <a:t>This application and technology can impact many groups around the world, including:</a:t>
            </a:r>
            <a:endParaRPr lang="en-US" sz="1600" dirty="0">
              <a:solidFill>
                <a:schemeClr val="dk2"/>
              </a:solidFill>
              <a:latin typeface="NimbusRomNo9L-Regu"/>
            </a:endParaRPr>
          </a:p>
        </p:txBody>
      </p:sp>
      <p:sp>
        <p:nvSpPr>
          <p:cNvPr id="3" name="Text Placeholder 2">
            <a:extLst>
              <a:ext uri="{FF2B5EF4-FFF2-40B4-BE49-F238E27FC236}">
                <a16:creationId xmlns:a16="http://schemas.microsoft.com/office/drawing/2014/main" id="{3D50D694-6149-CA4E-4565-686CD4119ACA}"/>
              </a:ext>
            </a:extLst>
          </p:cNvPr>
          <p:cNvSpPr>
            <a:spLocks noGrp="1"/>
          </p:cNvSpPr>
          <p:nvPr>
            <p:ph type="body" idx="1"/>
          </p:nvPr>
        </p:nvSpPr>
        <p:spPr>
          <a:xfrm>
            <a:off x="311699" y="2571750"/>
            <a:ext cx="8520600" cy="1185207"/>
          </a:xfrm>
        </p:spPr>
        <p:txBody>
          <a:bodyPr/>
          <a:lstStyle/>
          <a:p>
            <a:pPr>
              <a:buFont typeface="Wingdings" panose="05000000000000000000" pitchFamily="2" charset="2"/>
              <a:buChar char="§"/>
            </a:pPr>
            <a:r>
              <a:rPr lang="en-GB" sz="1400" dirty="0"/>
              <a:t>People who are forced to stay home due to illness</a:t>
            </a:r>
          </a:p>
          <a:p>
            <a:pPr>
              <a:buFont typeface="Wingdings" panose="05000000000000000000" pitchFamily="2" charset="2"/>
              <a:buChar char="§"/>
            </a:pPr>
            <a:r>
              <a:rPr lang="en-GB" sz="1400" dirty="0"/>
              <a:t>People who can not afford instruments and subscriptions to music lessons</a:t>
            </a:r>
          </a:p>
          <a:p>
            <a:pPr>
              <a:buFont typeface="Wingdings" panose="05000000000000000000" pitchFamily="2" charset="2"/>
              <a:buChar char="§"/>
            </a:pPr>
            <a:r>
              <a:rPr lang="en-GB" sz="1400" dirty="0"/>
              <a:t>People who do not have enough space in their home to add an instrument</a:t>
            </a:r>
          </a:p>
          <a:p>
            <a:pPr>
              <a:buFont typeface="Wingdings" panose="05000000000000000000" pitchFamily="2" charset="2"/>
              <a:buChar char="§"/>
            </a:pPr>
            <a:r>
              <a:rPr lang="en-GB" sz="1400" dirty="0"/>
              <a:t>People who can not make a lot of noise as to not annoy their neighbours</a:t>
            </a:r>
          </a:p>
        </p:txBody>
      </p:sp>
    </p:spTree>
    <p:extLst>
      <p:ext uri="{BB962C8B-B14F-4D97-AF65-F5344CB8AC3E}">
        <p14:creationId xmlns:p14="http://schemas.microsoft.com/office/powerpoint/2010/main" val="73567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Improvements/Future Recommendations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CC83A401-804E-4E5B-9630-D373582A7E0B}"/>
              </a:ext>
            </a:extLst>
          </p:cNvPr>
          <p:cNvSpPr>
            <a:spLocks noGrp="1"/>
          </p:cNvSpPr>
          <p:nvPr>
            <p:ph type="body" idx="1"/>
          </p:nvPr>
        </p:nvSpPr>
        <p:spPr>
          <a:xfrm>
            <a:off x="316283" y="1176338"/>
            <a:ext cx="8294979" cy="3344411"/>
          </a:xfrm>
        </p:spPr>
        <p:txBody>
          <a:bodyPr/>
          <a:lstStyle/>
          <a:p>
            <a:pPr>
              <a:buFont typeface="Arial" panose="020B0604020202020204" pitchFamily="34" charset="0"/>
              <a:buChar char="‒"/>
            </a:pPr>
            <a:r>
              <a:rPr lang="en-GB" dirty="0">
                <a:latin typeface="NimbusRomNo9L-Regu"/>
              </a:rPr>
              <a:t>Making a more realistic room for the drum kit to be placed in</a:t>
            </a:r>
          </a:p>
          <a:p>
            <a:pPr>
              <a:buFont typeface="Arial" panose="020B0604020202020204" pitchFamily="34" charset="0"/>
              <a:buChar char="‒"/>
            </a:pPr>
            <a:endParaRPr lang="en-GB" dirty="0">
              <a:latin typeface="NimbusRomNo9L-Regu"/>
            </a:endParaRPr>
          </a:p>
          <a:p>
            <a:pPr>
              <a:buFont typeface="Arial" panose="020B0604020202020204" pitchFamily="34" charset="0"/>
              <a:buChar char="‒"/>
            </a:pPr>
            <a:r>
              <a:rPr lang="en-GB" dirty="0">
                <a:latin typeface="NimbusRomNo9L-Regu"/>
              </a:rPr>
              <a:t>Attempting the same test with different instruments (primarily percussion instruments)</a:t>
            </a:r>
          </a:p>
          <a:p>
            <a:pPr>
              <a:buFont typeface="Arial" panose="020B0604020202020204" pitchFamily="34" charset="0"/>
              <a:buChar char="‒"/>
            </a:pPr>
            <a:endParaRPr lang="en-GB" dirty="0">
              <a:latin typeface="NimbusRomNo9L-Regu"/>
            </a:endParaRPr>
          </a:p>
          <a:p>
            <a:pPr>
              <a:buFont typeface="Arial" panose="020B0604020202020204" pitchFamily="34" charset="0"/>
              <a:buChar char="‒"/>
            </a:pPr>
            <a:r>
              <a:rPr lang="en-GB" dirty="0">
                <a:latin typeface="NimbusRomNo9L-Regu"/>
              </a:rPr>
              <a:t>Testing to see whether virtual reality technologies in music education can compete with experienced musicians by producing more advanced beats</a:t>
            </a:r>
            <a:endParaRPr lang="en-US" dirty="0">
              <a:latin typeface="NimbusRomNo9L-Regu"/>
            </a:endParaRPr>
          </a:p>
        </p:txBody>
      </p:sp>
    </p:spTree>
    <p:extLst>
      <p:ext uri="{BB962C8B-B14F-4D97-AF65-F5344CB8AC3E}">
        <p14:creationId xmlns:p14="http://schemas.microsoft.com/office/powerpoint/2010/main" val="3603874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Shape 60"/>
          <p:cNvSpPr txBox="1">
            <a:spLocks noGrp="1"/>
          </p:cNvSpPr>
          <p:nvPr>
            <p:ph type="title"/>
          </p:nvPr>
        </p:nvSpPr>
        <p:spPr>
          <a:xfrm>
            <a:off x="311700" y="445025"/>
            <a:ext cx="8520600" cy="981900"/>
          </a:xfrm>
          <a:prstGeom prst="rect">
            <a:avLst/>
          </a:prstGeom>
        </p:spPr>
        <p:txBody>
          <a:bodyPr spcFirstLastPara="1" wrap="square" lIns="91425" tIns="91425" rIns="91425" bIns="91425" anchor="t" anchorCtr="0">
            <a:noAutofit/>
          </a:bodyPr>
          <a:lstStyle/>
          <a:p>
            <a:pPr lvl="0" algn="ctr"/>
            <a:r>
              <a:rPr lang="en-GB" b="1" dirty="0">
                <a:latin typeface="Raleway"/>
                <a:ea typeface="Raleway"/>
                <a:cs typeface="Raleway"/>
                <a:sym typeface="Raleway"/>
              </a:rPr>
              <a:t>References</a:t>
            </a:r>
            <a:endParaRPr sz="2000" b="1" dirty="0">
              <a:latin typeface="Raleway"/>
              <a:ea typeface="Raleway"/>
              <a:cs typeface="Raleway"/>
              <a:sym typeface="Raleway"/>
            </a:endParaRPr>
          </a:p>
        </p:txBody>
      </p:sp>
      <p:cxnSp>
        <p:nvCxnSpPr>
          <p:cNvPr id="5" name="Straight Connector 4">
            <a:extLst>
              <a:ext uri="{FF2B5EF4-FFF2-40B4-BE49-F238E27FC236}">
                <a16:creationId xmlns:a16="http://schemas.microsoft.com/office/drawing/2014/main" id="{EE6088A9-71E6-8549-BEC2-BFBC476C30CA}"/>
              </a:ext>
            </a:extLst>
          </p:cNvPr>
          <p:cNvCxnSpPr/>
          <p:nvPr/>
        </p:nvCxnSpPr>
        <p:spPr>
          <a:xfrm>
            <a:off x="112892" y="1002955"/>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CC83A401-804E-4E5B-9630-D373582A7E0B}"/>
              </a:ext>
            </a:extLst>
          </p:cNvPr>
          <p:cNvSpPr>
            <a:spLocks noGrp="1"/>
          </p:cNvSpPr>
          <p:nvPr>
            <p:ph type="body" idx="1"/>
          </p:nvPr>
        </p:nvSpPr>
        <p:spPr>
          <a:xfrm>
            <a:off x="316285" y="1176338"/>
            <a:ext cx="8728572" cy="3344411"/>
          </a:xfrm>
        </p:spPr>
        <p:txBody>
          <a:bodyPr/>
          <a:lstStyle/>
          <a:p>
            <a:pPr marL="114300" indent="0" algn="l">
              <a:buNone/>
            </a:pPr>
            <a:r>
              <a:rPr lang="en-US" sz="1100" dirty="0">
                <a:latin typeface="NimbusRomNo9L-Medi"/>
              </a:rPr>
              <a:t>Tong, J. (2016) “Design and Implementation of Music Teaching Platform in College Based on Android Mobile Technology”, International Journal of Emerging Technologies in Learning (</a:t>
            </a:r>
            <a:r>
              <a:rPr lang="en-US" sz="1100" dirty="0" err="1">
                <a:latin typeface="NimbusRomNo9L-Medi"/>
              </a:rPr>
              <a:t>iJET</a:t>
            </a:r>
            <a:r>
              <a:rPr lang="en-US" sz="1100" dirty="0">
                <a:latin typeface="NimbusRomNo9L-Medi"/>
              </a:rPr>
              <a:t>), 11(05), pp. pp. 4–9. </a:t>
            </a:r>
            <a:r>
              <a:rPr lang="en-US" sz="1100" dirty="0" err="1">
                <a:latin typeface="NimbusRomNo9L-Medi"/>
              </a:rPr>
              <a:t>doi</a:t>
            </a:r>
            <a:r>
              <a:rPr lang="en-US" sz="1100" dirty="0">
                <a:latin typeface="NimbusRomNo9L-Medi"/>
              </a:rPr>
              <a:t>: 10.3991/ijet.v11i05.5686.</a:t>
            </a:r>
          </a:p>
        </p:txBody>
      </p:sp>
    </p:spTree>
    <p:extLst>
      <p:ext uri="{BB962C8B-B14F-4D97-AF65-F5344CB8AC3E}">
        <p14:creationId xmlns:p14="http://schemas.microsoft.com/office/powerpoint/2010/main" val="1793795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316E-7EDB-6341-901B-EA548A0F0CE2}"/>
              </a:ext>
            </a:extLst>
          </p:cNvPr>
          <p:cNvSpPr>
            <a:spLocks noGrp="1"/>
          </p:cNvSpPr>
          <p:nvPr>
            <p:ph type="title"/>
          </p:nvPr>
        </p:nvSpPr>
        <p:spPr>
          <a:xfrm>
            <a:off x="311700" y="2150849"/>
            <a:ext cx="8520600" cy="1294715"/>
          </a:xfrm>
        </p:spPr>
        <p:txBody>
          <a:bodyPr/>
          <a:lstStyle/>
          <a:p>
            <a:r>
              <a:rPr lang="en-US" b="1" dirty="0">
                <a:latin typeface="Raleway" panose="020B0604020202020204" charset="0"/>
              </a:rPr>
              <a:t>Thank you</a:t>
            </a:r>
            <a:br>
              <a:rPr lang="en-US" dirty="0"/>
            </a:br>
            <a:br>
              <a:rPr lang="en-US" sz="800" dirty="0"/>
            </a:br>
            <a:r>
              <a:rPr lang="en-US" sz="2000"/>
              <a:t>Daniel Grech</a:t>
            </a:r>
            <a:endParaRPr lang="en-US" dirty="0"/>
          </a:p>
        </p:txBody>
      </p:sp>
      <p:cxnSp>
        <p:nvCxnSpPr>
          <p:cNvPr id="3" name="Straight Connector 2">
            <a:extLst>
              <a:ext uri="{FF2B5EF4-FFF2-40B4-BE49-F238E27FC236}">
                <a16:creationId xmlns:a16="http://schemas.microsoft.com/office/drawing/2014/main" id="{5E3DAA63-4D00-0147-B9CF-24027D8A2FAF}"/>
              </a:ext>
            </a:extLst>
          </p:cNvPr>
          <p:cNvCxnSpPr/>
          <p:nvPr/>
        </p:nvCxnSpPr>
        <p:spPr>
          <a:xfrm>
            <a:off x="112644" y="2939288"/>
            <a:ext cx="8931965"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descr="Shape&#10;&#10;Description automatically generated with medium confidence">
            <a:extLst>
              <a:ext uri="{FF2B5EF4-FFF2-40B4-BE49-F238E27FC236}">
                <a16:creationId xmlns:a16="http://schemas.microsoft.com/office/drawing/2014/main" id="{59AEA123-F6BA-4DF5-9223-7478E8C81015}"/>
              </a:ext>
            </a:extLst>
          </p:cNvPr>
          <p:cNvPicPr>
            <a:picLocks noChangeAspect="1"/>
          </p:cNvPicPr>
          <p:nvPr/>
        </p:nvPicPr>
        <p:blipFill>
          <a:blip r:embed="rId3"/>
          <a:stretch>
            <a:fillRect/>
          </a:stretch>
        </p:blipFill>
        <p:spPr>
          <a:xfrm>
            <a:off x="2581742" y="3538134"/>
            <a:ext cx="3980515" cy="1391738"/>
          </a:xfrm>
          <a:prstGeom prst="rect">
            <a:avLst/>
          </a:prstGeom>
        </p:spPr>
      </p:pic>
    </p:spTree>
    <p:extLst>
      <p:ext uri="{BB962C8B-B14F-4D97-AF65-F5344CB8AC3E}">
        <p14:creationId xmlns:p14="http://schemas.microsoft.com/office/powerpoint/2010/main" val="27936941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071FCDFA86604391F8054337E90318" ma:contentTypeVersion="12" ma:contentTypeDescription="Create a new document." ma:contentTypeScope="" ma:versionID="428e8bd3f5b5705d3283ef1619dfa54f">
  <xsd:schema xmlns:xsd="http://www.w3.org/2001/XMLSchema" xmlns:xs="http://www.w3.org/2001/XMLSchema" xmlns:p="http://schemas.microsoft.com/office/2006/metadata/properties" xmlns:ns2="3f03398d-0ece-48ce-bdc3-b3342d37f0b0" xmlns:ns3="d3147ea9-79fb-4d7e-9ba9-7b6fc83c550b" targetNamespace="http://schemas.microsoft.com/office/2006/metadata/properties" ma:root="true" ma:fieldsID="3910bb58698fd8bb77612700b8755d01" ns2:_="" ns3:_="">
    <xsd:import namespace="3f03398d-0ece-48ce-bdc3-b3342d37f0b0"/>
    <xsd:import namespace="d3147ea9-79fb-4d7e-9ba9-7b6fc83c550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3398d-0ece-48ce-bdc3-b3342d37f0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2918eac-b98b-469d-b8dc-95a04dc6b27e"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147ea9-79fb-4d7e-9ba9-7b6fc83c550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396ae96-d522-43c8-96e6-4de5d3dc4375}" ma:internalName="TaxCatchAll" ma:showField="CatchAllData" ma:web="d3147ea9-79fb-4d7e-9ba9-7b6fc83c550b">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3147ea9-79fb-4d7e-9ba9-7b6fc83c550b" xsi:nil="true"/>
    <lcf76f155ced4ddcb4097134ff3c332f xmlns="3f03398d-0ece-48ce-bdc3-b3342d37f0b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72004B1-F07F-43C1-AAD4-02CBC71B571C}">
  <ds:schemaRefs>
    <ds:schemaRef ds:uri="3f03398d-0ece-48ce-bdc3-b3342d37f0b0"/>
    <ds:schemaRef ds:uri="d3147ea9-79fb-4d7e-9ba9-7b6fc83c550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8727EC3-027E-415E-8E65-39AD5268606C}">
  <ds:schemaRefs>
    <ds:schemaRef ds:uri="http://schemas.microsoft.com/sharepoint/v3/contenttype/forms"/>
  </ds:schemaRefs>
</ds:datastoreItem>
</file>

<file path=customXml/itemProps3.xml><?xml version="1.0" encoding="utf-8"?>
<ds:datastoreItem xmlns:ds="http://schemas.openxmlformats.org/officeDocument/2006/customXml" ds:itemID="{C3CE82D3-3DAB-415F-ABBA-4A99DAAF7228}">
  <ds:schemaRefs>
    <ds:schemaRef ds:uri="http://schemas.microsoft.com/office/2006/documentManagement/types"/>
    <ds:schemaRef ds:uri="d3147ea9-79fb-4d7e-9ba9-7b6fc83c550b"/>
    <ds:schemaRef ds:uri="http://purl.org/dc/elements/1.1/"/>
    <ds:schemaRef ds:uri="http://schemas.microsoft.com/office/2006/metadata/properties"/>
    <ds:schemaRef ds:uri="3f03398d-0ece-48ce-bdc3-b3342d37f0b0"/>
    <ds:schemaRef ds:uri="http://purl.org/dc/terms/"/>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4542</TotalTime>
  <Words>647</Words>
  <Application>Microsoft Office PowerPoint</Application>
  <PresentationFormat>On-screen Show (16:9)</PresentationFormat>
  <Paragraphs>62</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Wingdings</vt:lpstr>
      <vt:lpstr>NimbusRomNo9L-Regu</vt:lpstr>
      <vt:lpstr>Lato</vt:lpstr>
      <vt:lpstr>NimbusRomNo9L-Medi</vt:lpstr>
      <vt:lpstr>Raleway</vt:lpstr>
      <vt:lpstr>Arial</vt:lpstr>
      <vt:lpstr>Simple Light</vt:lpstr>
      <vt:lpstr>Virtual Reality in Music Education</vt:lpstr>
      <vt:lpstr>Motivation</vt:lpstr>
      <vt:lpstr>Hypothesis &amp; Questions</vt:lpstr>
      <vt:lpstr>Key Literature</vt:lpstr>
      <vt:lpstr>Research Methodology</vt:lpstr>
      <vt:lpstr>Methodology</vt:lpstr>
      <vt:lpstr>Prototype demonstration</vt:lpstr>
      <vt:lpstr>Results</vt:lpstr>
      <vt:lpstr>Evaluation</vt:lpstr>
      <vt:lpstr>Conclusions</vt:lpstr>
      <vt:lpstr>Improvements/Future Recommendations</vt:lpstr>
      <vt:lpstr>References</vt:lpstr>
      <vt:lpstr>Thank you  Daniel Grech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Daniel Grech</dc:creator>
  <cp:lastModifiedBy>Daniel Grech</cp:lastModifiedBy>
  <cp:revision>204</cp:revision>
  <dcterms:modified xsi:type="dcterms:W3CDTF">2023-05-16T17:38:58Z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0x010100E9A513F3DA5E9D4FA8BBB63D7A11E13B</vt:lpwstr>
  </property>
</Properties>
</file>